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Nuni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Nunito-regular.fntdata"/><Relationship Id="rId21" Type="http://schemas.openxmlformats.org/officeDocument/2006/relationships/slide" Target="slides/slide16.xml"/><Relationship Id="rId24" Type="http://schemas.openxmlformats.org/officeDocument/2006/relationships/font" Target="fonts/Nunito-italic.fntdata"/><Relationship Id="rId23" Type="http://schemas.openxmlformats.org/officeDocument/2006/relationships/font" Target="fonts/Nuni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1f18393cd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81f18393cd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8f61e3c6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88f61e3c6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88f61e3c6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88f61e3c6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895b973e8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895b973e8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895b973e8d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895b973e8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95b973e8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895b973e8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895b973e8d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895b973e8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8b0a7669f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8b0a7669f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895b973e8d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895b973e8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9febea14b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9febea14b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8b0a7669f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8b0a7669f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8b0a7669f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8b0a7669f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8b0a7669f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8b0a7669f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8b0a7669f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8b0a7669f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88f61e3c6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88f61e3c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amenest.gr" TargetMode="External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w3.org/TR/WCAG21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Build for Everyone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EAA-Compliant Web Apps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George Roubie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819150" y="1990725"/>
            <a:ext cx="4316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2200"/>
              <a:t>Senior Front-End Engineer @ efood Founder of GameNest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l" sz="1400"/>
              <a:t>ex-Pobuca | </a:t>
            </a:r>
            <a:r>
              <a:rPr lang="el" sz="1400"/>
              <a:t>ex-Skroutzer | ex-Workabler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l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https://gamenest.gr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36" name="Google Shape;136;p14" title="qr-co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0075" y="1909763"/>
            <a:ext cx="2609925" cy="260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Download the Project &amp; Code Along</a:t>
            </a:r>
            <a:endParaRPr/>
          </a:p>
        </p:txBody>
      </p:sp>
      <p:sp>
        <p:nvSpPr>
          <p:cNvPr id="142" name="Google Shape;142;p1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43" name="Google Shape;143;p1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400"/>
              <a:t>Requirements: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el" sz="1400"/>
              <a:t>Node.js</a:t>
            </a:r>
            <a:r>
              <a:rPr lang="el" sz="1400"/>
              <a:t> version </a:t>
            </a:r>
            <a:r>
              <a:rPr b="1" lang="el" sz="1400"/>
              <a:t>20.19+</a:t>
            </a:r>
            <a:r>
              <a:rPr lang="el" sz="1400"/>
              <a:t>, </a:t>
            </a:r>
            <a:r>
              <a:rPr b="1" lang="el" sz="1400"/>
              <a:t>22.12+</a:t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l" sz="1400"/>
              <a:t>Yarn</a:t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 sz="1400"/>
              <a:t>VSCode or some other </a:t>
            </a:r>
            <a:r>
              <a:rPr b="1" lang="el" sz="1400"/>
              <a:t>IDE</a:t>
            </a:r>
            <a:endParaRPr b="1" sz="1400"/>
          </a:p>
        </p:txBody>
      </p:sp>
      <p:pic>
        <p:nvPicPr>
          <p:cNvPr id="144" name="Google Shape;144;p15" title="qr-cod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100" y="1866875"/>
            <a:ext cx="2571849" cy="2571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5300"/>
              <a:t>A</a:t>
            </a:r>
            <a:r>
              <a:rPr lang="el" sz="1400"/>
              <a:t>ccessib</a:t>
            </a:r>
            <a:r>
              <a:rPr lang="el" sz="5300"/>
              <a:t>I</a:t>
            </a:r>
            <a:r>
              <a:rPr lang="el" sz="1400"/>
              <a:t>lity</a:t>
            </a:r>
            <a:endParaRPr/>
          </a:p>
        </p:txBody>
      </p:sp>
      <p:sp>
        <p:nvSpPr>
          <p:cNvPr id="150" name="Google Shape;150;p16"/>
          <p:cNvSpPr txBox="1"/>
          <p:nvPr>
            <p:ph idx="1" type="body"/>
          </p:nvPr>
        </p:nvSpPr>
        <p:spPr>
          <a:xfrm>
            <a:off x="819150" y="1990725"/>
            <a:ext cx="7175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400"/>
              <a:t>Accessibility aka </a:t>
            </a:r>
            <a:r>
              <a:rPr b="1" lang="el" sz="1400"/>
              <a:t>a11y</a:t>
            </a:r>
            <a:r>
              <a:rPr lang="el" sz="1400"/>
              <a:t> in Web is </a:t>
            </a:r>
            <a:r>
              <a:rPr b="1" lang="el" sz="1400"/>
              <a:t>making</a:t>
            </a:r>
            <a:r>
              <a:rPr lang="el" sz="1400"/>
              <a:t> </a:t>
            </a:r>
            <a:r>
              <a:rPr b="1" lang="el" sz="1400"/>
              <a:t>websites</a:t>
            </a:r>
            <a:r>
              <a:rPr lang="el" sz="1400"/>
              <a:t> and web apps </a:t>
            </a:r>
            <a:r>
              <a:rPr b="1" lang="el" sz="1400"/>
              <a:t>usable</a:t>
            </a:r>
            <a:r>
              <a:rPr lang="el" sz="1400"/>
              <a:t> </a:t>
            </a:r>
            <a:r>
              <a:rPr b="1" lang="el" sz="1400"/>
              <a:t>for everyone</a:t>
            </a:r>
            <a:r>
              <a:rPr lang="el" sz="1400"/>
              <a:t>.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l" sz="1400"/>
              <a:t>Includes people with </a:t>
            </a:r>
            <a:r>
              <a:rPr b="1" lang="el" sz="1400"/>
              <a:t>disabilities</a:t>
            </a:r>
            <a:r>
              <a:rPr lang="el" sz="1400"/>
              <a:t> </a:t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 sz="1400"/>
              <a:t>Ensures content works well with tools like </a:t>
            </a:r>
            <a:r>
              <a:rPr b="1" lang="el" sz="1400"/>
              <a:t>screen readers</a:t>
            </a:r>
            <a:r>
              <a:rPr lang="el" sz="1400"/>
              <a:t> and </a:t>
            </a:r>
            <a:r>
              <a:rPr b="1" lang="el" sz="1400"/>
              <a:t>keyboards</a:t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 sz="1400"/>
              <a:t>Creates a more inclusive and </a:t>
            </a:r>
            <a:r>
              <a:rPr b="1" lang="el" sz="1400"/>
              <a:t>user-friendly </a:t>
            </a:r>
            <a:r>
              <a:rPr lang="el" sz="1400"/>
              <a:t>web</a:t>
            </a:r>
            <a:r>
              <a:rPr b="1" lang="el" sz="1400"/>
              <a:t> experience</a:t>
            </a:r>
            <a:endParaRPr b="1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A11y 🤔</a:t>
            </a:r>
            <a:endParaRPr/>
          </a:p>
        </p:txBody>
      </p:sp>
      <p:sp>
        <p:nvSpPr>
          <p:cNvPr id="156" name="Google Shape;156;p17"/>
          <p:cNvSpPr txBox="1"/>
          <p:nvPr>
            <p:ph idx="1" type="body"/>
          </p:nvPr>
        </p:nvSpPr>
        <p:spPr>
          <a:xfrm>
            <a:off x="819150" y="1990725"/>
            <a:ext cx="7175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400"/>
              <a:t>Why should we care?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l" sz="1400"/>
              <a:t>Because a11y is about </a:t>
            </a:r>
            <a:r>
              <a:rPr b="1" lang="el" sz="1400"/>
              <a:t>people first</a:t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 sz="1400"/>
              <a:t>Because we want our apps to be </a:t>
            </a:r>
            <a:r>
              <a:rPr b="1" lang="el" sz="1400"/>
              <a:t>usable by everyone</a:t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 sz="1400"/>
              <a:t>Because it’s the </a:t>
            </a:r>
            <a:r>
              <a:rPr b="1" lang="el" sz="1400"/>
              <a:t>law</a:t>
            </a:r>
            <a:r>
              <a:rPr lang="el" sz="1400"/>
              <a:t> (EAA compliance)</a:t>
            </a:r>
            <a:endParaRPr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WCAG &amp; EU Law</a:t>
            </a:r>
            <a:endParaRPr/>
          </a:p>
        </p:txBody>
      </p:sp>
      <p:sp>
        <p:nvSpPr>
          <p:cNvPr id="162" name="Google Shape;162;p18"/>
          <p:cNvSpPr txBox="1"/>
          <p:nvPr>
            <p:ph idx="1" type="body"/>
          </p:nvPr>
        </p:nvSpPr>
        <p:spPr>
          <a:xfrm>
            <a:off x="819150" y="1766100"/>
            <a:ext cx="7505700" cy="30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400"/>
              <a:t>What is </a:t>
            </a:r>
            <a:r>
              <a:rPr b="1" lang="el" sz="1400"/>
              <a:t>WCAG</a:t>
            </a:r>
            <a:r>
              <a:rPr lang="el" sz="1400"/>
              <a:t>?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l" sz="1400"/>
              <a:t>WCAG = Web Content Accessibility Guidelines (by </a:t>
            </a:r>
            <a:r>
              <a:rPr b="1" lang="el" sz="1400"/>
              <a:t>W3C</a:t>
            </a:r>
            <a:r>
              <a:rPr lang="el" sz="1400"/>
              <a:t> </a:t>
            </a:r>
            <a:r>
              <a:rPr lang="el" sz="14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https://www.w3.org/TR/WCAG21/</a:t>
            </a:r>
            <a:r>
              <a:rPr lang="el" sz="1400"/>
              <a:t> 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 sz="1400"/>
              <a:t>Provides </a:t>
            </a:r>
            <a:r>
              <a:rPr b="1" lang="el" sz="1400"/>
              <a:t>standards</a:t>
            </a:r>
            <a:r>
              <a:rPr lang="el" sz="1400"/>
              <a:t> to make </a:t>
            </a:r>
            <a:r>
              <a:rPr b="1" lang="el" sz="1400"/>
              <a:t>web content accessible</a:t>
            </a:r>
            <a:r>
              <a:rPr lang="el" sz="1400"/>
              <a:t> to people with disabilities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 sz="1400"/>
              <a:t>Three conformance levels: </a:t>
            </a:r>
            <a:r>
              <a:rPr b="1" lang="el" sz="1400"/>
              <a:t>A</a:t>
            </a:r>
            <a:r>
              <a:rPr lang="el" sz="1400"/>
              <a:t>, </a:t>
            </a:r>
            <a:r>
              <a:rPr b="1" lang="el" sz="1400"/>
              <a:t>AA</a:t>
            </a:r>
            <a:r>
              <a:rPr lang="el" sz="1400"/>
              <a:t>, </a:t>
            </a:r>
            <a:r>
              <a:rPr b="1" lang="el" sz="1400"/>
              <a:t>AAA</a:t>
            </a:r>
            <a:endParaRPr b="1"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l" sz="1400"/>
            </a:br>
            <a:r>
              <a:rPr b="1" lang="el" sz="1400"/>
              <a:t>EU Law</a:t>
            </a:r>
            <a:r>
              <a:rPr lang="el" sz="1400"/>
              <a:t> Requirements: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l" sz="1400"/>
              <a:t>Public sector websites &amp; apps must comply with </a:t>
            </a:r>
            <a:r>
              <a:rPr b="1" lang="el" sz="1400"/>
              <a:t>WCAG 2.1</a:t>
            </a:r>
            <a:r>
              <a:rPr lang="el" sz="1400"/>
              <a:t> Level </a:t>
            </a:r>
            <a:r>
              <a:rPr b="1" lang="el" sz="1400"/>
              <a:t>AA</a:t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l" sz="1400"/>
              <a:t>Ensures</a:t>
            </a:r>
            <a:r>
              <a:rPr lang="el" sz="1400"/>
              <a:t> essential </a:t>
            </a:r>
            <a:r>
              <a:rPr b="1" lang="el" sz="1400"/>
              <a:t>accessibility</a:t>
            </a:r>
            <a:r>
              <a:rPr lang="el" sz="1400"/>
              <a:t> features for users with </a:t>
            </a:r>
            <a:r>
              <a:rPr b="1" lang="el" sz="1400"/>
              <a:t>disabilities</a:t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l" sz="1400"/>
              <a:t>AAA is not required</a:t>
            </a:r>
            <a:r>
              <a:rPr lang="el" sz="1400"/>
              <a:t>, but recommended for optimal accessibility</a:t>
            </a:r>
            <a:endParaRPr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A11y Developer Tools</a:t>
            </a:r>
            <a:endParaRPr/>
          </a:p>
        </p:txBody>
      </p:sp>
      <p:sp>
        <p:nvSpPr>
          <p:cNvPr id="168" name="Google Shape;168;p19"/>
          <p:cNvSpPr txBox="1"/>
          <p:nvPr>
            <p:ph idx="1" type="body"/>
          </p:nvPr>
        </p:nvSpPr>
        <p:spPr>
          <a:xfrm>
            <a:off x="819150" y="1553625"/>
            <a:ext cx="7505700" cy="33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400"/>
              <a:t>Chrome Extensions: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el" sz="1400"/>
              <a:t>Wave</a:t>
            </a:r>
            <a:r>
              <a:rPr lang="el" sz="1400"/>
              <a:t> Evaluation Tool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l" sz="1400"/>
              <a:t>Silktide</a:t>
            </a:r>
            <a:r>
              <a:rPr lang="el" sz="1400"/>
              <a:t> Accessibility Checker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l" sz="1400"/>
              <a:t>Built-in Chrome features: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el" sz="1400"/>
              <a:t>Lighthouse</a:t>
            </a:r>
            <a:r>
              <a:rPr lang="el" sz="1400"/>
              <a:t> a11y checker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l" sz="1400"/>
              <a:t>A11y tree</a:t>
            </a:r>
            <a:endParaRPr b="1"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l" sz="1400"/>
              <a:t>OS features: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el" sz="1400"/>
              <a:t>macOS: VoiceOver </a:t>
            </a:r>
            <a:r>
              <a:rPr lang="el" sz="1400"/>
              <a:t>- full-featured screen reader built into macOS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l" sz="1400"/>
              <a:t>Windows: Narrator </a:t>
            </a:r>
            <a:r>
              <a:rPr lang="el" sz="1400"/>
              <a:t>- built-in screen reader in Windows OS</a:t>
            </a:r>
            <a:endParaRPr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User Settings</a:t>
            </a:r>
            <a:endParaRPr/>
          </a:p>
        </p:txBody>
      </p:sp>
      <p:sp>
        <p:nvSpPr>
          <p:cNvPr id="174" name="Google Shape;174;p20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400"/>
              <a:t>We always need to </a:t>
            </a:r>
            <a:r>
              <a:rPr b="1" lang="el" sz="1400"/>
              <a:t>respect</a:t>
            </a:r>
            <a:r>
              <a:rPr lang="el" sz="1400"/>
              <a:t> our </a:t>
            </a:r>
            <a:r>
              <a:rPr b="1" lang="el" sz="1400"/>
              <a:t>user settings</a:t>
            </a:r>
            <a:endParaRPr b="1"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el" sz="1400"/>
              <a:t>Font Size</a:t>
            </a:r>
            <a:r>
              <a:rPr lang="el" sz="1400"/>
              <a:t>: Honor user-chosen text size for readability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l" sz="1400"/>
              <a:t>Color Scheme</a:t>
            </a:r>
            <a:r>
              <a:rPr lang="el" sz="1400"/>
              <a:t>: Support light and dark modes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l" sz="1400"/>
              <a:t>Reduce Motion</a:t>
            </a:r>
            <a:r>
              <a:rPr lang="el" sz="1400"/>
              <a:t>: Minimize animations or transitions for users who prefer reduced motion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l" sz="1400"/>
              <a:t>Direction</a:t>
            </a:r>
            <a:r>
              <a:rPr lang="el" sz="1400"/>
              <a:t>: Adapt to user’s text direction preferences (e.g., rtl for right-to-left languages).</a:t>
            </a:r>
            <a:endParaRPr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How To B</a:t>
            </a:r>
            <a:r>
              <a:rPr lang="el"/>
              <a:t>uild Experiences That Adapt</a:t>
            </a:r>
            <a:endParaRPr/>
          </a:p>
        </p:txBody>
      </p:sp>
      <p:sp>
        <p:nvSpPr>
          <p:cNvPr id="180" name="Google Shape;180;p21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400"/>
              <a:t>Your app should </a:t>
            </a:r>
            <a:r>
              <a:rPr b="1" lang="el" sz="1400"/>
              <a:t>follow the user</a:t>
            </a:r>
            <a:r>
              <a:rPr lang="el" sz="1400"/>
              <a:t>, not force them to adapt to it.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l" sz="1400"/>
              <a:t>Use </a:t>
            </a:r>
            <a:r>
              <a:rPr b="1" lang="el" sz="1400"/>
              <a:t>rem</a:t>
            </a:r>
            <a:r>
              <a:rPr lang="el" sz="1400"/>
              <a:t> instead of </a:t>
            </a:r>
            <a:r>
              <a:rPr b="1" lang="el" sz="1400"/>
              <a:t>px</a:t>
            </a:r>
            <a:r>
              <a:rPr lang="el" sz="1400"/>
              <a:t> for font sizes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 sz="1400"/>
              <a:t>Use the </a:t>
            </a:r>
            <a:r>
              <a:rPr b="1" lang="el" sz="1400"/>
              <a:t>prefers-color-scheme</a:t>
            </a:r>
            <a:r>
              <a:rPr lang="el" sz="1400"/>
              <a:t> media query to match </a:t>
            </a:r>
            <a:r>
              <a:rPr b="1" lang="el" sz="1400"/>
              <a:t>light</a:t>
            </a:r>
            <a:r>
              <a:rPr lang="el" sz="1400"/>
              <a:t> or </a:t>
            </a:r>
            <a:r>
              <a:rPr b="1" lang="el" sz="1400"/>
              <a:t>dark</a:t>
            </a:r>
            <a:r>
              <a:rPr lang="el" sz="1400"/>
              <a:t> mode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 sz="1400"/>
              <a:t>Use </a:t>
            </a:r>
            <a:r>
              <a:rPr b="1" lang="el" sz="1400"/>
              <a:t>prefers-reduced-motion</a:t>
            </a:r>
            <a:r>
              <a:rPr lang="el" sz="1400"/>
              <a:t> to disable or simplify animations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 sz="1400"/>
              <a:t>Avoid left and right, use the logical </a:t>
            </a:r>
            <a:r>
              <a:rPr b="1" lang="el" sz="1400"/>
              <a:t>start</a:t>
            </a:r>
            <a:r>
              <a:rPr lang="el" sz="1400"/>
              <a:t> and </a:t>
            </a:r>
            <a:r>
              <a:rPr b="1" lang="el" sz="1400"/>
              <a:t>end</a:t>
            </a:r>
            <a:r>
              <a:rPr lang="el" sz="1400"/>
              <a:t> for </a:t>
            </a:r>
            <a:r>
              <a:rPr b="1" lang="el" sz="1400"/>
              <a:t>direction-aware</a:t>
            </a:r>
            <a:r>
              <a:rPr lang="el" sz="1400"/>
              <a:t> layouts</a:t>
            </a:r>
            <a:endParaRPr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Semantic… what now?</a:t>
            </a:r>
            <a:endParaRPr/>
          </a:p>
        </p:txBody>
      </p:sp>
      <p:sp>
        <p:nvSpPr>
          <p:cNvPr id="186" name="Google Shape;186;p22"/>
          <p:cNvSpPr txBox="1"/>
          <p:nvPr>
            <p:ph idx="1" type="body"/>
          </p:nvPr>
        </p:nvSpPr>
        <p:spPr>
          <a:xfrm>
            <a:off x="819150" y="1851300"/>
            <a:ext cx="7505700" cy="27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l" sz="1400">
                <a:solidFill>
                  <a:srgbClr val="000000"/>
                </a:solidFill>
              </a:rPr>
              <a:t>Boring explanation:</a:t>
            </a:r>
            <a:br>
              <a:rPr b="1" lang="el" sz="1400">
                <a:solidFill>
                  <a:srgbClr val="000000"/>
                </a:solidFill>
              </a:rPr>
            </a:br>
            <a:r>
              <a:rPr b="1" lang="el" sz="1400">
                <a:solidFill>
                  <a:srgbClr val="000000"/>
                </a:solidFill>
              </a:rPr>
              <a:t>Semantic HTML</a:t>
            </a:r>
            <a:r>
              <a:rPr lang="el" sz="1400">
                <a:solidFill>
                  <a:srgbClr val="000000"/>
                </a:solidFill>
              </a:rPr>
              <a:t> is a way of writing HTML where you use</a:t>
            </a:r>
            <a:r>
              <a:rPr b="1" lang="el" sz="1400">
                <a:solidFill>
                  <a:srgbClr val="000000"/>
                </a:solidFill>
              </a:rPr>
              <a:t> elements</a:t>
            </a:r>
            <a:r>
              <a:rPr lang="el" sz="1400">
                <a:solidFill>
                  <a:srgbClr val="000000"/>
                </a:solidFill>
              </a:rPr>
              <a:t> that </a:t>
            </a:r>
            <a:r>
              <a:rPr b="1" lang="el" sz="1400">
                <a:solidFill>
                  <a:srgbClr val="000000"/>
                </a:solidFill>
              </a:rPr>
              <a:t>describe</a:t>
            </a:r>
            <a:r>
              <a:rPr lang="el" sz="1400">
                <a:solidFill>
                  <a:srgbClr val="000000"/>
                </a:solidFill>
              </a:rPr>
              <a:t> the </a:t>
            </a:r>
            <a:r>
              <a:rPr b="1" lang="el" sz="1400">
                <a:solidFill>
                  <a:srgbClr val="000000"/>
                </a:solidFill>
              </a:rPr>
              <a:t>meaning</a:t>
            </a:r>
            <a:r>
              <a:rPr lang="el" sz="1400">
                <a:solidFill>
                  <a:srgbClr val="000000"/>
                </a:solidFill>
              </a:rPr>
              <a:t> of the content rather than just its appearance.</a:t>
            </a:r>
            <a:br>
              <a:rPr lang="el" sz="1400"/>
            </a:br>
            <a:br>
              <a:rPr lang="el" sz="1400"/>
            </a:br>
            <a:r>
              <a:rPr lang="el" sz="1400"/>
              <a:t>Using semantic HTML makes your site more accessible, search-friendly, and maintainable.</a:t>
            </a:r>
            <a:endParaRPr b="1"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l" sz="1400">
                <a:solidFill>
                  <a:srgbClr val="000000"/>
                </a:solidFill>
              </a:rPr>
              <a:t>Helps </a:t>
            </a:r>
            <a:r>
              <a:rPr b="1" lang="el" sz="1400">
                <a:solidFill>
                  <a:srgbClr val="000000"/>
                </a:solidFill>
              </a:rPr>
              <a:t>screen readers</a:t>
            </a:r>
            <a:r>
              <a:rPr lang="el" sz="1400">
                <a:solidFill>
                  <a:srgbClr val="000000"/>
                </a:solidFill>
              </a:rPr>
              <a:t> understand page structure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l" sz="1400">
                <a:solidFill>
                  <a:srgbClr val="000000"/>
                </a:solidFill>
              </a:rPr>
              <a:t>Native HTML elements</a:t>
            </a:r>
            <a:r>
              <a:rPr lang="el" sz="1400">
                <a:solidFill>
                  <a:srgbClr val="000000"/>
                </a:solidFill>
              </a:rPr>
              <a:t> come with </a:t>
            </a:r>
            <a:r>
              <a:rPr b="1" lang="el" sz="1400">
                <a:solidFill>
                  <a:srgbClr val="000000"/>
                </a:solidFill>
              </a:rPr>
              <a:t>built-in keyboard</a:t>
            </a:r>
            <a:r>
              <a:rPr lang="el" sz="1400">
                <a:solidFill>
                  <a:srgbClr val="000000"/>
                </a:solidFill>
              </a:rPr>
              <a:t> and </a:t>
            </a:r>
            <a:r>
              <a:rPr b="1" lang="el" sz="1400">
                <a:solidFill>
                  <a:srgbClr val="000000"/>
                </a:solidFill>
              </a:rPr>
              <a:t>accessibility</a:t>
            </a:r>
            <a:r>
              <a:rPr lang="el" sz="1400">
                <a:solidFill>
                  <a:srgbClr val="000000"/>
                </a:solidFill>
              </a:rPr>
              <a:t> features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 sz="1400">
                <a:solidFill>
                  <a:srgbClr val="000000"/>
                </a:solidFill>
              </a:rPr>
              <a:t>Improves </a:t>
            </a:r>
            <a:r>
              <a:rPr b="1" lang="el" sz="1400">
                <a:solidFill>
                  <a:srgbClr val="000000"/>
                </a:solidFill>
              </a:rPr>
              <a:t>SEO</a:t>
            </a:r>
            <a:r>
              <a:rPr lang="el" sz="1400">
                <a:solidFill>
                  <a:srgbClr val="000000"/>
                </a:solidFill>
              </a:rPr>
              <a:t> and </a:t>
            </a:r>
            <a:r>
              <a:rPr b="1" lang="el" sz="1400">
                <a:solidFill>
                  <a:srgbClr val="000000"/>
                </a:solidFill>
              </a:rPr>
              <a:t>developer clarity</a:t>
            </a:r>
            <a:endParaRPr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3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Semantic HTML Best Practices</a:t>
            </a:r>
            <a:endParaRPr/>
          </a:p>
        </p:txBody>
      </p:sp>
      <p:sp>
        <p:nvSpPr>
          <p:cNvPr id="192" name="Google Shape;192;p23"/>
          <p:cNvSpPr txBox="1"/>
          <p:nvPr>
            <p:ph idx="1" type="body"/>
          </p:nvPr>
        </p:nvSpPr>
        <p:spPr>
          <a:xfrm>
            <a:off x="819150" y="1742825"/>
            <a:ext cx="75057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l" sz="1400">
                <a:solidFill>
                  <a:srgbClr val="000000"/>
                </a:solidFill>
              </a:rPr>
              <a:t>Use </a:t>
            </a:r>
            <a:r>
              <a:rPr b="1" lang="el" sz="1400">
                <a:solidFill>
                  <a:srgbClr val="000000"/>
                </a:solidFill>
              </a:rPr>
              <a:t>headings</a:t>
            </a:r>
            <a:r>
              <a:rPr lang="el" sz="1400">
                <a:solidFill>
                  <a:srgbClr val="000000"/>
                </a:solidFill>
              </a:rPr>
              <a:t> (</a:t>
            </a:r>
            <a:r>
              <a:rPr b="1" lang="el" sz="1400">
                <a:solidFill>
                  <a:srgbClr val="000000"/>
                </a:solidFill>
              </a:rPr>
              <a:t>&lt;h1&gt;</a:t>
            </a:r>
            <a:r>
              <a:rPr lang="el" sz="1400">
                <a:solidFill>
                  <a:srgbClr val="000000"/>
                </a:solidFill>
              </a:rPr>
              <a:t> - </a:t>
            </a:r>
            <a:r>
              <a:rPr b="1" lang="el" sz="1400">
                <a:solidFill>
                  <a:srgbClr val="000000"/>
                </a:solidFill>
              </a:rPr>
              <a:t>&lt;h6&gt;</a:t>
            </a:r>
            <a:r>
              <a:rPr lang="el" sz="1400">
                <a:solidFill>
                  <a:srgbClr val="000000"/>
                </a:solidFill>
              </a:rPr>
              <a:t>) in the correct order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l" sz="1400">
                <a:solidFill>
                  <a:srgbClr val="000000"/>
                </a:solidFill>
              </a:rPr>
              <a:t>Use </a:t>
            </a:r>
            <a:r>
              <a:rPr b="1" lang="el" sz="1400">
                <a:solidFill>
                  <a:srgbClr val="000000"/>
                </a:solidFill>
              </a:rPr>
              <a:t>&lt;ul&gt;</a:t>
            </a:r>
            <a:r>
              <a:rPr lang="el" sz="1400">
                <a:solidFill>
                  <a:srgbClr val="000000"/>
                </a:solidFill>
              </a:rPr>
              <a:t> /</a:t>
            </a:r>
            <a:r>
              <a:rPr b="1" lang="el" sz="1400">
                <a:solidFill>
                  <a:srgbClr val="000000"/>
                </a:solidFill>
              </a:rPr>
              <a:t> &lt;ol&gt;</a:t>
            </a:r>
            <a:r>
              <a:rPr lang="el" sz="1400">
                <a:solidFill>
                  <a:srgbClr val="000000"/>
                </a:solidFill>
              </a:rPr>
              <a:t> for </a:t>
            </a:r>
            <a:r>
              <a:rPr b="1" lang="el" sz="1400">
                <a:solidFill>
                  <a:srgbClr val="000000"/>
                </a:solidFill>
              </a:rPr>
              <a:t>lists</a:t>
            </a:r>
            <a:endParaRPr b="1"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l" sz="1400">
                <a:solidFill>
                  <a:srgbClr val="000000"/>
                </a:solidFill>
              </a:rPr>
              <a:t>Use</a:t>
            </a:r>
            <a:r>
              <a:rPr b="1" lang="el" sz="1400">
                <a:solidFill>
                  <a:srgbClr val="000000"/>
                </a:solidFill>
              </a:rPr>
              <a:t> &lt;p&gt; </a:t>
            </a:r>
            <a:r>
              <a:rPr lang="el" sz="1400">
                <a:solidFill>
                  <a:srgbClr val="000000"/>
                </a:solidFill>
              </a:rPr>
              <a:t>for </a:t>
            </a:r>
            <a:r>
              <a:rPr b="1" lang="el" sz="1400">
                <a:solidFill>
                  <a:srgbClr val="000000"/>
                </a:solidFill>
              </a:rPr>
              <a:t>text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l" sz="1400">
                <a:solidFill>
                  <a:srgbClr val="000000"/>
                </a:solidFill>
              </a:rPr>
              <a:t>Use </a:t>
            </a:r>
            <a:r>
              <a:rPr b="1" lang="el" sz="1400">
                <a:solidFill>
                  <a:srgbClr val="000000"/>
                </a:solidFill>
              </a:rPr>
              <a:t>&lt;main&gt;</a:t>
            </a:r>
            <a:r>
              <a:rPr lang="el" sz="1400">
                <a:solidFill>
                  <a:srgbClr val="000000"/>
                </a:solidFill>
              </a:rPr>
              <a:t>, </a:t>
            </a:r>
            <a:r>
              <a:rPr b="1" lang="el" sz="1400">
                <a:solidFill>
                  <a:srgbClr val="000000"/>
                </a:solidFill>
              </a:rPr>
              <a:t>&lt;nav&gt;</a:t>
            </a:r>
            <a:r>
              <a:rPr lang="el" sz="1400">
                <a:solidFill>
                  <a:srgbClr val="000000"/>
                </a:solidFill>
              </a:rPr>
              <a:t>, </a:t>
            </a:r>
            <a:r>
              <a:rPr b="1" lang="el" sz="1400">
                <a:solidFill>
                  <a:srgbClr val="000000"/>
                </a:solidFill>
              </a:rPr>
              <a:t>&lt;header&gt;</a:t>
            </a:r>
            <a:r>
              <a:rPr lang="el" sz="1400">
                <a:solidFill>
                  <a:srgbClr val="000000"/>
                </a:solidFill>
              </a:rPr>
              <a:t>, </a:t>
            </a:r>
            <a:r>
              <a:rPr b="1" lang="el" sz="1400">
                <a:solidFill>
                  <a:srgbClr val="000000"/>
                </a:solidFill>
              </a:rPr>
              <a:t>&lt;footer&gt;</a:t>
            </a:r>
            <a:r>
              <a:rPr lang="el" sz="1400">
                <a:solidFill>
                  <a:srgbClr val="000000"/>
                </a:solidFill>
              </a:rPr>
              <a:t> for </a:t>
            </a:r>
            <a:r>
              <a:rPr b="1" lang="el" sz="1400">
                <a:solidFill>
                  <a:srgbClr val="000000"/>
                </a:solidFill>
              </a:rPr>
              <a:t>layout</a:t>
            </a:r>
            <a:endParaRPr b="1" sz="1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Accessible Clickable Elements</a:t>
            </a:r>
            <a:endParaRPr/>
          </a:p>
        </p:txBody>
      </p:sp>
      <p:sp>
        <p:nvSpPr>
          <p:cNvPr id="198" name="Google Shape;198;p24"/>
          <p:cNvSpPr txBox="1"/>
          <p:nvPr>
            <p:ph idx="1" type="body"/>
          </p:nvPr>
        </p:nvSpPr>
        <p:spPr>
          <a:xfrm>
            <a:off x="819150" y="1859050"/>
            <a:ext cx="7505700" cy="215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400"/>
              <a:t>Mak</a:t>
            </a:r>
            <a:r>
              <a:rPr lang="el" sz="1400"/>
              <a:t>e </a:t>
            </a:r>
            <a:r>
              <a:rPr b="1" lang="el" sz="1400"/>
              <a:t>interactions</a:t>
            </a:r>
            <a:r>
              <a:rPr lang="el" sz="1400"/>
              <a:t> </a:t>
            </a:r>
            <a:r>
              <a:rPr b="1" lang="el" sz="1400"/>
              <a:t>clear</a:t>
            </a:r>
            <a:r>
              <a:rPr lang="el" sz="1400"/>
              <a:t>, consistent, and </a:t>
            </a:r>
            <a:r>
              <a:rPr b="1" lang="el" sz="1400"/>
              <a:t>keyboard-friendly</a:t>
            </a:r>
            <a:r>
              <a:rPr lang="el" sz="1400"/>
              <a:t>. </a:t>
            </a:r>
            <a:r>
              <a:rPr lang="el" sz="1400"/>
              <a:t>Using </a:t>
            </a:r>
            <a:r>
              <a:rPr b="1" lang="el" sz="1400"/>
              <a:t>buttons</a:t>
            </a:r>
            <a:r>
              <a:rPr lang="el" sz="1400"/>
              <a:t> and </a:t>
            </a:r>
            <a:r>
              <a:rPr b="1" lang="el" sz="1400"/>
              <a:t>links</a:t>
            </a:r>
            <a:r>
              <a:rPr lang="el" sz="1400"/>
              <a:t> correctly ensures that everyone </a:t>
            </a:r>
            <a:r>
              <a:rPr b="1" lang="el" sz="1400"/>
              <a:t>can interact</a:t>
            </a:r>
            <a:r>
              <a:rPr lang="el" sz="1400"/>
              <a:t> with your site, including </a:t>
            </a:r>
            <a:r>
              <a:rPr b="1" lang="el" sz="1400"/>
              <a:t>keyboard users</a:t>
            </a:r>
            <a:r>
              <a:rPr lang="el" sz="1400"/>
              <a:t> and </a:t>
            </a:r>
            <a:r>
              <a:rPr b="1" lang="el" sz="1400"/>
              <a:t>assistive technology users</a:t>
            </a:r>
            <a:r>
              <a:rPr lang="el" sz="1400"/>
              <a:t>.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l" sz="1400"/>
              <a:t>Use </a:t>
            </a:r>
            <a:r>
              <a:rPr b="1" lang="el" sz="1400"/>
              <a:t>&lt;button&gt;</a:t>
            </a:r>
            <a:r>
              <a:rPr lang="el" sz="1400"/>
              <a:t> for </a:t>
            </a:r>
            <a:r>
              <a:rPr b="1" lang="el" sz="1400"/>
              <a:t>actions</a:t>
            </a:r>
            <a:r>
              <a:rPr lang="el" sz="1400"/>
              <a:t> (e.g., submitting, toggling)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 sz="1400"/>
              <a:t>Use </a:t>
            </a:r>
            <a:r>
              <a:rPr b="1" lang="el" sz="1400"/>
              <a:t>&lt;a&gt;</a:t>
            </a:r>
            <a:r>
              <a:rPr lang="el" sz="1400"/>
              <a:t> for </a:t>
            </a:r>
            <a:r>
              <a:rPr b="1" lang="el" sz="1400"/>
              <a:t>navigation</a:t>
            </a:r>
            <a:r>
              <a:rPr lang="el" sz="1400"/>
              <a:t> (e.g., linking to another page)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l" sz="1400"/>
              <a:t>Don’t nest</a:t>
            </a:r>
            <a:r>
              <a:rPr lang="el" sz="1400"/>
              <a:t> clickable elements (e.g., a &lt;button&gt; inside an &lt;a&gt; or vice versa)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 sz="1400"/>
              <a:t>Ensure </a:t>
            </a:r>
            <a:r>
              <a:rPr b="1" lang="el" sz="1400"/>
              <a:t>users can see</a:t>
            </a:r>
            <a:r>
              <a:rPr lang="el" sz="1400"/>
              <a:t> which </a:t>
            </a:r>
            <a:r>
              <a:rPr b="1" lang="el" sz="1400"/>
              <a:t>element is focused</a:t>
            </a:r>
            <a:r>
              <a:rPr lang="el" sz="1400"/>
              <a:t> when using </a:t>
            </a:r>
            <a:r>
              <a:rPr b="1" lang="el" sz="1400"/>
              <a:t>Tab</a:t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l" sz="1400"/>
              <a:t>Don’t remove outlines</a:t>
            </a:r>
            <a:r>
              <a:rPr lang="el" sz="1400"/>
              <a:t>, customize them instead</a:t>
            </a:r>
            <a:endParaRPr sz="1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ARIA Attributes</a:t>
            </a:r>
            <a:endParaRPr/>
          </a:p>
        </p:txBody>
      </p:sp>
      <p:sp>
        <p:nvSpPr>
          <p:cNvPr id="204" name="Google Shape;204;p25"/>
          <p:cNvSpPr txBox="1"/>
          <p:nvPr>
            <p:ph idx="1" type="body"/>
          </p:nvPr>
        </p:nvSpPr>
        <p:spPr>
          <a:xfrm>
            <a:off x="819150" y="1556950"/>
            <a:ext cx="7505700" cy="32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400"/>
              <a:t>Add meaning</a:t>
            </a:r>
            <a:r>
              <a:rPr lang="el" sz="1400"/>
              <a:t>, only </a:t>
            </a:r>
            <a:r>
              <a:rPr b="1" lang="el" sz="1400"/>
              <a:t>when</a:t>
            </a:r>
            <a:r>
              <a:rPr lang="el" sz="1400"/>
              <a:t> native </a:t>
            </a:r>
            <a:r>
              <a:rPr b="1" lang="el" sz="1400"/>
              <a:t>HTML isn’t enough</a:t>
            </a:r>
            <a:r>
              <a:rPr lang="el" sz="1400"/>
              <a:t>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l" sz="1400"/>
              <a:t>What ARIA is:</a:t>
            </a:r>
            <a:endParaRPr b="1"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el" sz="1400"/>
              <a:t>ARIA</a:t>
            </a:r>
            <a:r>
              <a:rPr lang="el" sz="1400"/>
              <a:t> stands for </a:t>
            </a:r>
            <a:r>
              <a:rPr b="1" lang="el" sz="1400"/>
              <a:t>Accessible Rich Internet Applications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 sz="1400"/>
              <a:t>It provides </a:t>
            </a:r>
            <a:r>
              <a:rPr b="1" lang="el" sz="1400"/>
              <a:t>extra accessibility information</a:t>
            </a:r>
            <a:r>
              <a:rPr lang="el" sz="1400"/>
              <a:t> to assistive technologies (like screen readers)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 sz="1400"/>
              <a:t>Use it to </a:t>
            </a:r>
            <a:r>
              <a:rPr b="1" lang="el" sz="1400"/>
              <a:t>describe</a:t>
            </a:r>
            <a:r>
              <a:rPr lang="el" sz="1400"/>
              <a:t> roles, states, and </a:t>
            </a:r>
            <a:r>
              <a:rPr b="1" lang="el" sz="1400"/>
              <a:t>properties</a:t>
            </a:r>
            <a:r>
              <a:rPr lang="el" sz="1400"/>
              <a:t> that </a:t>
            </a:r>
            <a:r>
              <a:rPr b="1" lang="el" sz="1400"/>
              <a:t>HTML</a:t>
            </a:r>
            <a:r>
              <a:rPr lang="el" sz="1400"/>
              <a:t> alone </a:t>
            </a:r>
            <a:r>
              <a:rPr b="1" lang="el" sz="1400"/>
              <a:t>can’t express</a:t>
            </a:r>
            <a:endParaRPr b="1"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l" sz="1400"/>
              <a:t> Examples:</a:t>
            </a:r>
            <a:endParaRPr b="1"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el" sz="1400"/>
              <a:t>role</a:t>
            </a:r>
            <a:r>
              <a:rPr lang="el" sz="1400"/>
              <a:t>="dialog": </a:t>
            </a:r>
            <a:r>
              <a:rPr b="1" lang="el" sz="1400"/>
              <a:t>defines</a:t>
            </a:r>
            <a:r>
              <a:rPr lang="el" sz="1400"/>
              <a:t> an </a:t>
            </a:r>
            <a:r>
              <a:rPr b="1" lang="el" sz="1400"/>
              <a:t>element</a:t>
            </a:r>
            <a:r>
              <a:rPr lang="el" sz="1400"/>
              <a:t> </a:t>
            </a:r>
            <a:r>
              <a:rPr b="1" lang="el" sz="1400"/>
              <a:t>as</a:t>
            </a:r>
            <a:r>
              <a:rPr lang="el" sz="1400"/>
              <a:t> a </a:t>
            </a:r>
            <a:r>
              <a:rPr b="1" lang="el" sz="1400"/>
              <a:t>dialog</a:t>
            </a:r>
            <a:r>
              <a:rPr lang="el" sz="1400"/>
              <a:t> or modal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l" sz="1400"/>
              <a:t>aria-label</a:t>
            </a:r>
            <a:r>
              <a:rPr lang="el" sz="1400"/>
              <a:t>="Close": gives a </a:t>
            </a:r>
            <a:r>
              <a:rPr b="1" lang="el" sz="1400"/>
              <a:t>readable label</a:t>
            </a:r>
            <a:r>
              <a:rPr lang="el" sz="1400"/>
              <a:t> when there’s no visible text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l" sz="1400"/>
              <a:t>aria-hidden</a:t>
            </a:r>
            <a:r>
              <a:rPr lang="el" sz="1400"/>
              <a:t>="true": </a:t>
            </a:r>
            <a:r>
              <a:rPr b="1" lang="el" sz="1400"/>
              <a:t>hides</a:t>
            </a:r>
            <a:r>
              <a:rPr lang="el" sz="1400"/>
              <a:t> </a:t>
            </a:r>
            <a:r>
              <a:rPr b="1" lang="el" sz="1400"/>
              <a:t>content</a:t>
            </a:r>
            <a:r>
              <a:rPr lang="el" sz="1400"/>
              <a:t> from screen readers</a:t>
            </a:r>
            <a:endParaRPr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ARIA Attributes Best Practices</a:t>
            </a:r>
            <a:endParaRPr/>
          </a:p>
        </p:txBody>
      </p:sp>
      <p:sp>
        <p:nvSpPr>
          <p:cNvPr id="210" name="Google Shape;210;p26"/>
          <p:cNvSpPr txBox="1"/>
          <p:nvPr>
            <p:ph idx="1" type="body"/>
          </p:nvPr>
        </p:nvSpPr>
        <p:spPr>
          <a:xfrm>
            <a:off x="819150" y="1800200"/>
            <a:ext cx="7505700" cy="26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400"/>
              <a:t>No ARIA is better than Bad ARIA</a:t>
            </a:r>
            <a:r>
              <a:rPr b="1" lang="el" sz="1400"/>
              <a:t> </a:t>
            </a:r>
            <a:r>
              <a:rPr i="1" lang="el" sz="1400"/>
              <a:t>(W3C Accessibility Principle)</a:t>
            </a:r>
            <a:endParaRPr i="1"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el" sz="1400"/>
              <a:t>Use native HTML first</a:t>
            </a:r>
            <a:r>
              <a:rPr lang="el" sz="1400"/>
              <a:t>,  only use ARIA when no native element fits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l" sz="1400"/>
              <a:t>Never change native semantics</a:t>
            </a:r>
            <a:r>
              <a:rPr lang="el" sz="1400"/>
              <a:t> (e.g., don’t add role="button" to a real &lt;button&gt;)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 sz="1400"/>
              <a:t>Keep </a:t>
            </a:r>
            <a:r>
              <a:rPr b="1" lang="el" sz="1400"/>
              <a:t>ARIA states in sync</a:t>
            </a:r>
            <a:r>
              <a:rPr lang="el" sz="1400"/>
              <a:t> with </a:t>
            </a:r>
            <a:r>
              <a:rPr b="1" lang="el" sz="1400"/>
              <a:t>UI behavior</a:t>
            </a:r>
            <a:r>
              <a:rPr lang="el" sz="1400"/>
              <a:t> (e.g., toggle aria-expanded)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 sz="1400"/>
              <a:t>Every </a:t>
            </a:r>
            <a:r>
              <a:rPr b="1" lang="el" sz="1400"/>
              <a:t>interactive element</a:t>
            </a:r>
            <a:r>
              <a:rPr lang="el" sz="1400"/>
              <a:t> must be </a:t>
            </a:r>
            <a:r>
              <a:rPr b="1" lang="el" sz="1400"/>
              <a:t>focusable</a:t>
            </a:r>
            <a:r>
              <a:rPr lang="el" sz="1400"/>
              <a:t> (tabindex="0" if needed)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l" sz="1400"/>
              <a:t>Use </a:t>
            </a:r>
            <a:r>
              <a:rPr b="1" lang="el" sz="1400"/>
              <a:t>a</a:t>
            </a:r>
            <a:r>
              <a:rPr b="1" lang="el" sz="1400"/>
              <a:t>ria-label</a:t>
            </a:r>
            <a:r>
              <a:rPr lang="el" sz="1400"/>
              <a:t> or </a:t>
            </a:r>
            <a:r>
              <a:rPr b="1" lang="el" sz="1400"/>
              <a:t>aria-labelledby</a:t>
            </a:r>
            <a:r>
              <a:rPr lang="el" sz="1400"/>
              <a:t> only when visible </a:t>
            </a:r>
            <a:r>
              <a:rPr b="1" lang="el" sz="1400"/>
              <a:t>text isn’t available</a:t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l" sz="1400"/>
              <a:t>Avoid hiding focusable elements</a:t>
            </a:r>
            <a:r>
              <a:rPr lang="el" sz="1400"/>
              <a:t> with aria-hidden="true"</a:t>
            </a:r>
            <a:endParaRPr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Monitoring Accessibility</a:t>
            </a:r>
            <a:endParaRPr/>
          </a:p>
        </p:txBody>
      </p:sp>
      <p:sp>
        <p:nvSpPr>
          <p:cNvPr id="216" name="Google Shape;216;p27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400"/>
              <a:t>Remember </a:t>
            </a:r>
            <a:r>
              <a:rPr b="1" lang="el" sz="1400"/>
              <a:t>a11y isn’t a one-time task</a:t>
            </a:r>
            <a:r>
              <a:rPr lang="el" sz="1400"/>
              <a:t>, it’s </a:t>
            </a:r>
            <a:r>
              <a:rPr lang="el" sz="1400"/>
              <a:t>an ongoing process.</a:t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el" sz="1400"/>
              <a:t>Check a11y regularly</a:t>
            </a:r>
            <a:r>
              <a:rPr lang="el" sz="1400"/>
              <a:t> with tools like </a:t>
            </a:r>
            <a:r>
              <a:rPr b="1" lang="el" sz="1400"/>
              <a:t>WAVE</a:t>
            </a:r>
            <a:r>
              <a:rPr lang="el" sz="1400"/>
              <a:t>, </a:t>
            </a:r>
            <a:r>
              <a:rPr b="1" lang="el" sz="1400"/>
              <a:t>Silktide</a:t>
            </a:r>
            <a:r>
              <a:rPr lang="el" sz="1400"/>
              <a:t>, </a:t>
            </a:r>
            <a:r>
              <a:rPr b="1" lang="el" sz="1400"/>
              <a:t>Lighthouse</a:t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l" sz="1400"/>
              <a:t>Test</a:t>
            </a:r>
            <a:r>
              <a:rPr lang="el" sz="1400"/>
              <a:t> your </a:t>
            </a:r>
            <a:r>
              <a:rPr b="1" lang="el" sz="1400"/>
              <a:t>app</a:t>
            </a:r>
            <a:r>
              <a:rPr lang="el" sz="1400"/>
              <a:t> using </a:t>
            </a:r>
            <a:r>
              <a:rPr b="1" lang="el" sz="1400"/>
              <a:t>only</a:t>
            </a:r>
            <a:r>
              <a:rPr lang="el" sz="1400"/>
              <a:t> the </a:t>
            </a:r>
            <a:r>
              <a:rPr b="1" lang="el" sz="1400"/>
              <a:t>keyboard</a:t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l" sz="1400"/>
              <a:t>Test</a:t>
            </a:r>
            <a:r>
              <a:rPr lang="el" sz="1400"/>
              <a:t> with a </a:t>
            </a:r>
            <a:r>
              <a:rPr b="1" lang="el" sz="1400"/>
              <a:t>screen reader</a:t>
            </a:r>
            <a:r>
              <a:rPr lang="el" sz="1400"/>
              <a:t> and </a:t>
            </a:r>
            <a:r>
              <a:rPr b="1" lang="el" sz="1400"/>
              <a:t>with</a:t>
            </a:r>
            <a:r>
              <a:rPr lang="el" sz="1400"/>
              <a:t> the </a:t>
            </a:r>
            <a:r>
              <a:rPr b="1" lang="el" sz="1400"/>
              <a:t>screen brightness turned down</a:t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l" sz="1400"/>
              <a:t>Integrate Lighthouse a11y checks</a:t>
            </a:r>
            <a:r>
              <a:rPr lang="el" sz="1400"/>
              <a:t> in your </a:t>
            </a:r>
            <a:r>
              <a:rPr b="1" lang="el" sz="1400"/>
              <a:t>CI/CD</a:t>
            </a:r>
            <a:r>
              <a:rPr lang="el" sz="1400"/>
              <a:t> pipeline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l" sz="1400"/>
              <a:t>Add ESLint a11y rules</a:t>
            </a:r>
            <a:r>
              <a:rPr lang="el" sz="1400"/>
              <a:t> to catch issues during development</a:t>
            </a:r>
            <a:endParaRPr sz="1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8"/>
          <p:cNvSpPr txBox="1"/>
          <p:nvPr>
            <p:ph type="title"/>
          </p:nvPr>
        </p:nvSpPr>
        <p:spPr>
          <a:xfrm>
            <a:off x="1385850" y="9496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Thank you</a:t>
            </a:r>
            <a:endParaRPr/>
          </a:p>
        </p:txBody>
      </p:sp>
      <p:sp>
        <p:nvSpPr>
          <p:cNvPr id="222" name="Google Shape;222;p28"/>
          <p:cNvSpPr txBox="1"/>
          <p:nvPr>
            <p:ph idx="1" type="body"/>
          </p:nvPr>
        </p:nvSpPr>
        <p:spPr>
          <a:xfrm>
            <a:off x="1385850" y="2250300"/>
            <a:ext cx="6372300" cy="6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l" sz="1400"/>
              <a:t>🙌 </a:t>
            </a:r>
            <a:r>
              <a:rPr b="1" lang="el" sz="1400"/>
              <a:t>Thanks</a:t>
            </a:r>
            <a:r>
              <a:rPr lang="el" sz="1400"/>
              <a:t> for joining this workshop, I hope you enjoyed it!</a:t>
            </a:r>
            <a:br>
              <a:rPr lang="el" sz="1400"/>
            </a:br>
            <a:r>
              <a:rPr lang="el" sz="1400"/>
              <a:t>Let’s stay in touch on LinkedIn.</a:t>
            </a:r>
            <a:endParaRPr sz="1400"/>
          </a:p>
        </p:txBody>
      </p:sp>
      <p:pic>
        <p:nvPicPr>
          <p:cNvPr id="223" name="Google Shape;223;p28" title="qr-code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9250" y="2968125"/>
            <a:ext cx="1945499" cy="1945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